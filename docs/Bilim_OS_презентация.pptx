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erudit-school.vercel.ap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erudit-school.vercel.ap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erudit-school.vercel.ap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971C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BILIM </a:t>
            </a:r>
            <a:pPr indent="0" marL="0">
              <a:buNone/>
            </a:pPr>
            <a:r>
              <a:rPr lang="en-US" sz="7200" b="1" dirty="0">
                <a:solidFill>
                  <a:srgbClr val="197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77240" y="3200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Академическая ERP-система для школ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3886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97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Концепция продукта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49377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Демо-доступ: </a:t>
            </a:r>
            <a:pPr indent="0" marL="0">
              <a:buNone/>
            </a:pPr>
            <a:r>
              <a:rPr lang="en-US" sz="1600" u="sng" dirty="0">
                <a:solidFill>
                  <a:srgbClr val="1971C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https://erudit-school.vercel.app</a:t>
            </a:r>
            <a:pPr indent="0" marL="0">
              <a:buNone/>
            </a:pP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пароль: erudit2025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Ранний доступ ·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971C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1A1B1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такое Bilim OS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360152" y="63550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Bilim OS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97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Единая цифровая среда управления школой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110642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Журнал, расписание, оценивание, посещаемость, отчётность, коммуникация и аналитика — в одном месте и связаны между собой.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участники процесса в одном пространстве: администрация, педагоги, специалисты, ученики и родители.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видит только то, что нужно для его работы — лишнее скрыто, чувствительные данные разграничены.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в браузере на компьютере и телефоне — устанавливать ничего не нужно.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971C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1A1B1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Какую задачу решаем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360152" y="63550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Bilim OS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6424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Заменить бумажные журналы и разрозненные таблицы единой системой.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Сделать оценивание прозрачным и защищённым от ошибок — через модерацию.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Дать руководству аналитику по школе в реальном времени.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Дать родителям понятную и честную картину успеваемости ребёнка.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Сохранять историю: кто, когда и что изменил.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971C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1A1B1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ролей — каждому своё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360152" y="63550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Bilim OS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210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Директор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полный доступ ко всему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Аналитик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аналитика, финальная публикация оценок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Завуч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модерация оценок, нагрузка, дескрипторы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Секретарь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ученики, персонал, документы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Учитель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журнал, оценки, домашние задания, расписание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Куратор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всё, что учитель + происшествия класса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Специалист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логопед / психолог / медкабинет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Ученик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свой дневник, оценки, ДЗ, расписание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Родитель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успеваемость и посещаемость ребёнка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971C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1A1B1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уже работает сегодня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360152" y="63550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Bilim OS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3611880" cy="658368"/>
          </a:xfrm>
          <a:prstGeom prst="roundRect">
            <a:avLst>
              <a:gd name="adj" fmla="val 8333"/>
            </a:avLst>
          </a:prstGeom>
          <a:solidFill>
            <a:srgbClr val="E7F1FB"/>
          </a:solidFill>
          <a:ln w="9525">
            <a:solidFill>
              <a:srgbClr val="1971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25880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Электронный журнал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25112" y="1325880"/>
            <a:ext cx="3611880" cy="658368"/>
          </a:xfrm>
          <a:prstGeom prst="roundRect">
            <a:avLst>
              <a:gd name="adj" fmla="val 8333"/>
            </a:avLst>
          </a:prstGeom>
          <a:solidFill>
            <a:srgbClr val="E7F1FB"/>
          </a:solidFill>
          <a:ln w="9525">
            <a:solidFill>
              <a:srgbClr val="1971C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25112" y="1325880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Оценивание + модерация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01584" y="1325880"/>
            <a:ext cx="3611880" cy="658368"/>
          </a:xfrm>
          <a:prstGeom prst="roundRect">
            <a:avLst>
              <a:gd name="adj" fmla="val 8333"/>
            </a:avLst>
          </a:prstGeom>
          <a:solidFill>
            <a:srgbClr val="E7F1FB"/>
          </a:solidFill>
          <a:ln w="9525">
            <a:solidFill>
              <a:srgbClr val="1971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01584" y="1325880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аудита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130552"/>
            <a:ext cx="3611880" cy="658368"/>
          </a:xfrm>
          <a:prstGeom prst="roundRect">
            <a:avLst>
              <a:gd name="adj" fmla="val 8333"/>
            </a:avLst>
          </a:prstGeom>
          <a:solidFill>
            <a:srgbClr val="E7F1FB"/>
          </a:solidFill>
          <a:ln w="9525">
            <a:solidFill>
              <a:srgbClr val="1971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130552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Домашние задания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25112" y="2130552"/>
            <a:ext cx="3611880" cy="658368"/>
          </a:xfrm>
          <a:prstGeom prst="roundRect">
            <a:avLst>
              <a:gd name="adj" fmla="val 8333"/>
            </a:avLst>
          </a:prstGeom>
          <a:solidFill>
            <a:srgbClr val="E7F1FB"/>
          </a:solidFill>
          <a:ln w="9525">
            <a:solidFill>
              <a:srgbClr val="1971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25112" y="2130552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Расписание и звонки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01584" y="2130552"/>
            <a:ext cx="3611880" cy="658368"/>
          </a:xfrm>
          <a:prstGeom prst="roundRect">
            <a:avLst>
              <a:gd name="adj" fmla="val 8333"/>
            </a:avLst>
          </a:prstGeom>
          <a:solidFill>
            <a:srgbClr val="E7F1FB"/>
          </a:solidFill>
          <a:ln w="9525">
            <a:solidFill>
              <a:srgbClr val="1971C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01584" y="2130552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Замены уроков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2935224"/>
            <a:ext cx="3611880" cy="658368"/>
          </a:xfrm>
          <a:prstGeom prst="roundRect">
            <a:avLst>
              <a:gd name="adj" fmla="val 8333"/>
            </a:avLst>
          </a:prstGeom>
          <a:solidFill>
            <a:srgbClr val="E7F1FB"/>
          </a:solidFill>
          <a:ln w="9525">
            <a:solidFill>
              <a:srgbClr val="1971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935224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Нагрузка педагогов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25112" y="2935224"/>
            <a:ext cx="3611880" cy="658368"/>
          </a:xfrm>
          <a:prstGeom prst="roundRect">
            <a:avLst>
              <a:gd name="adj" fmla="val 8333"/>
            </a:avLst>
          </a:prstGeom>
          <a:solidFill>
            <a:srgbClr val="E7F1FB"/>
          </a:solidFill>
          <a:ln w="9525">
            <a:solidFill>
              <a:srgbClr val="1971C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25112" y="2935224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Передача нагрузки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101584" y="2935224"/>
            <a:ext cx="3611880" cy="658368"/>
          </a:xfrm>
          <a:prstGeom prst="roundRect">
            <a:avLst>
              <a:gd name="adj" fmla="val 8333"/>
            </a:avLst>
          </a:prstGeom>
          <a:solidFill>
            <a:srgbClr val="E7F1FB"/>
          </a:solidFill>
          <a:ln w="9525">
            <a:solidFill>
              <a:srgbClr val="1971C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01584" y="2935224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Посещаемость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3739896"/>
            <a:ext cx="3611880" cy="658368"/>
          </a:xfrm>
          <a:prstGeom prst="roundRect">
            <a:avLst>
              <a:gd name="adj" fmla="val 8333"/>
            </a:avLst>
          </a:prstGeom>
          <a:solidFill>
            <a:srgbClr val="E7F1FB"/>
          </a:solidFill>
          <a:ln w="9525">
            <a:solidFill>
              <a:srgbClr val="1971C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739896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Дневник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325112" y="3739896"/>
            <a:ext cx="3611880" cy="658368"/>
          </a:xfrm>
          <a:prstGeom prst="roundRect">
            <a:avLst>
              <a:gd name="adj" fmla="val 8333"/>
            </a:avLst>
          </a:prstGeom>
          <a:solidFill>
            <a:srgbClr val="E7F1FB"/>
          </a:solidFill>
          <a:ln w="9525">
            <a:solidFill>
              <a:srgbClr val="1971C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25112" y="3739896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Отчёты и экспорт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101584" y="3739896"/>
            <a:ext cx="3611880" cy="658368"/>
          </a:xfrm>
          <a:prstGeom prst="roundRect">
            <a:avLst>
              <a:gd name="adj" fmla="val 8333"/>
            </a:avLst>
          </a:prstGeom>
          <a:solidFill>
            <a:srgbClr val="E7F1FB"/>
          </a:solidFill>
          <a:ln w="9525">
            <a:solidFill>
              <a:srgbClr val="1971C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01584" y="3739896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 по школе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" y="4544568"/>
            <a:ext cx="3611880" cy="658368"/>
          </a:xfrm>
          <a:prstGeom prst="roundRect">
            <a:avLst>
              <a:gd name="adj" fmla="val 8333"/>
            </a:avLst>
          </a:prstGeom>
          <a:solidFill>
            <a:srgbClr val="E7F1FB"/>
          </a:solidFill>
          <a:ln w="9525">
            <a:solidFill>
              <a:srgbClr val="1971C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544568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Кабинеты специалистов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325112" y="4544568"/>
            <a:ext cx="3611880" cy="658368"/>
          </a:xfrm>
          <a:prstGeom prst="roundRect">
            <a:avLst>
              <a:gd name="adj" fmla="val 8333"/>
            </a:avLst>
          </a:prstGeom>
          <a:solidFill>
            <a:srgbClr val="E7F1FB"/>
          </a:solidFill>
          <a:ln w="9525">
            <a:solidFill>
              <a:srgbClr val="1971C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25112" y="4544568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Дескрипторы педагогов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101584" y="4544568"/>
            <a:ext cx="3611880" cy="658368"/>
          </a:xfrm>
          <a:prstGeom prst="roundRect">
            <a:avLst>
              <a:gd name="adj" fmla="val 8333"/>
            </a:avLst>
          </a:prstGeom>
          <a:solidFill>
            <a:srgbClr val="E7F1FB"/>
          </a:solidFill>
          <a:ln w="9525">
            <a:solidFill>
              <a:srgbClr val="1971C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01584" y="4544568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Происшествия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48640" y="5349240"/>
            <a:ext cx="3611880" cy="658368"/>
          </a:xfrm>
          <a:prstGeom prst="roundRect">
            <a:avLst>
              <a:gd name="adj" fmla="val 8333"/>
            </a:avLst>
          </a:prstGeom>
          <a:solidFill>
            <a:srgbClr val="E7F1FB"/>
          </a:solidFill>
          <a:ln w="9525">
            <a:solidFill>
              <a:srgbClr val="1971C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5349240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Срочные вопросы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325112" y="5349240"/>
            <a:ext cx="3611880" cy="658368"/>
          </a:xfrm>
          <a:prstGeom prst="roundRect">
            <a:avLst>
              <a:gd name="adj" fmla="val 8333"/>
            </a:avLst>
          </a:prstGeom>
          <a:solidFill>
            <a:srgbClr val="E7F1FB"/>
          </a:solidFill>
          <a:ln w="9525">
            <a:solidFill>
              <a:srgbClr val="1971C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25112" y="5349240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Новости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8101584" y="5349240"/>
            <a:ext cx="3611880" cy="658368"/>
          </a:xfrm>
          <a:prstGeom prst="roundRect">
            <a:avLst>
              <a:gd name="adj" fmla="val 8333"/>
            </a:avLst>
          </a:prstGeom>
          <a:solidFill>
            <a:srgbClr val="E7F1FB"/>
          </a:solidFill>
          <a:ln w="9525">
            <a:solidFill>
              <a:srgbClr val="1971C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01584" y="5349240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Чаты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971C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1A1B1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Двухуровневая модерация оценок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360152" y="63550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Bilim OS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Важные оценки попадают в дневник только после двойной проверки: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E7F1FB"/>
          </a:solidFill>
          <a:ln w="15875">
            <a:solidFill>
              <a:srgbClr val="1971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9456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Учитель
</a:t>
            </a:r>
            <a:pPr algn="ct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выставляет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108960" y="219456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97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611880" y="219456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E7F1FB"/>
          </a:solidFill>
          <a:ln w="15875">
            <a:solidFill>
              <a:srgbClr val="1971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219456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Завуч
</a:t>
            </a:r>
            <a:pPr algn="ct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утверждает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80760" y="219456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97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6583680" y="219456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E7F1FB"/>
          </a:solidFill>
          <a:ln w="15875">
            <a:solidFill>
              <a:srgbClr val="1971C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219456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
</a:t>
            </a:r>
            <a:pPr algn="ct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публикует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052560" y="219456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97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555480" y="219456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1971C2"/>
          </a:solidFill>
          <a:ln w="15875">
            <a:solidFill>
              <a:srgbClr val="1971C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55480" y="219456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Опубликовано
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видит семья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4023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изменение фиксируется в журнале аудита (кто / когда / что). Это защищает и учителя, и ученика.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971C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1A1B1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Чем Bilim OS выделяется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360152" y="63550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Bilim OS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6424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97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Передача нагрузки
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Нагрузку уходящего педагога (декрет, болезнь) передают другому одной операцией. Прошлые оценки остаются за прежним учителем в режиме «только чтение».
</a:t>
            </a:r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97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Дескрипторы педагога с уровнями доступа
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уровня конфиденциальности. Сам педагог не видит закрытые характеристики о себе — это сделано осознанно.
</a:t>
            </a:r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97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Конфиденциальность данных
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Ученик и родитель видят только свой класс и только опубликованные оценки. Проверено автоматическими тестами — это уже работает, не обещание.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971C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1A1B1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дорожной карте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360152" y="63550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Bilim OS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разработке. Ранний партнёр получает по мере выхода — без доплат: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110642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Портфолио, достижения, олимпиады и проекты.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КТП и календарь учебного года.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Библиотека, мероприятия, студии, выезды.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Бухгалтерия, питание, АХЧ.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с Кундолюком (не обещаем как готовую).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Мобильное приложение и ИИ-помощники по ролям.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971C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1A1B1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Чем Bilim OS отличается от Zero (KZ)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360152" y="63550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Bilim OS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— про бизнес частного центра (CRM, финансы, договоры). Bilim OS — про качество учебного процесса.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5943600"/>
                <a:gridCol w="2560320"/>
                <a:gridCol w="25603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важно для школы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B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Bilim 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1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Education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888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Модерация оценок + журнал аудита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9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сразу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Разграничение доступа (9 ролей)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9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базово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Приватность: свой класс / опубликованное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9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журнал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Дескрипторы педагога (уровни доступа)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9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Передача нагрузки (декрет/болезнь)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9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Кабинеты специалистов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9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кружки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CRM / финансы / договоры / биллинг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 будущее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971C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1A1B1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Стоимость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360152" y="63550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Bilim OS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Установка (разово): </a:t>
            </a:r>
            <a:pPr indent="0" marL="0">
              <a:buNone/>
            </a:pPr>
            <a:r>
              <a:rPr lang="en-US" sz="2000" b="1" dirty="0">
                <a:solidFill>
                  <a:srgbClr val="197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$1000</a:t>
            </a:r>
            <a:pPr indent="0" marL="0">
              <a:buNone/>
            </a:pPr>
            <a:r>
              <a:rPr lang="en-US" sz="20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Подписка: </a:t>
            </a:r>
            <a:pPr indent="0" marL="0">
              <a:buNone/>
            </a:pPr>
            <a:r>
              <a:rPr lang="en-US" sz="2000" b="1" dirty="0">
                <a:solidFill>
                  <a:srgbClr val="197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30 000 сом / месяц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Разбивка подписки по модулям (платится единым пакетом):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40280"/>
          <a:ext cx="8229600" cy="914400"/>
        </p:xfrm>
        <a:graphic>
          <a:graphicData uri="http://schemas.openxmlformats.org/drawingml/2006/table">
            <a:tbl>
              <a:tblPr/>
              <a:tblGrid>
                <a:gridCol w="6766560"/>
                <a:gridCol w="14630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Модуль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B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сом/мес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B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Электронный журнал и оценивание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Модерация оценок + журнал аудита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Расписание, звонки, замены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Нагрузка и передача нагрузки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Дневник ученика и родителя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Посещаемость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Отчёты и экспорт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Аналитика для руководства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Кабинеты специалистов + дескрипторы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Коммуникации (новости, чаты, вопросы, происшествия)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ИТОГО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1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1C2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9052560" y="237744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Ранний партнёр: новые модули с дорожной карты — без доплат по мере выхода.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971C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1A1B1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посмотреть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360152" y="63550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Bilim OS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Откройте  </a:t>
            </a:r>
            <a:pPr indent="0" marL="0">
              <a:buNone/>
            </a:pPr>
            <a:r>
              <a:rPr lang="en-US" sz="2000" b="1" u="sng" dirty="0">
                <a:solidFill>
                  <a:srgbClr val="1971C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https://erudit-school.vercel.app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7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Единый пароль ко всем демо-аккаунтам: erudit2025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1381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azhibaeva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Учитель — журнал, оценки, ДЗ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kozlova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Завуч — модерация, нагрузка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Ученик — свой дневник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Родитель — успеваемость ребёнка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B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Директор — полный доступ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5029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 показа: Учитель → Завуч → Родитель. Не открывайте разделы с меткой «Скоро» и карточку конкретного педагога.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971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Bilim OS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77240" y="33832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Рабочий инструмент сегодня — и честное партнёрство в развитии.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" y="4389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https://erudit-school.vercel.app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пароль: erudit2025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Bilim OS — концепция продукта</dc:title>
  <dc:subject>PptxGenJS Presentation</dc:subject>
  <dc:creator>Bilim OS</dc:creator>
  <cp:lastModifiedBy>Bilim OS</cp:lastModifiedBy>
  <cp:revision>1</cp:revision>
  <dcterms:created xsi:type="dcterms:W3CDTF">2026-05-28T20:45:17Z</dcterms:created>
  <dcterms:modified xsi:type="dcterms:W3CDTF">2026-05-28T20:45:17Z</dcterms:modified>
</cp:coreProperties>
</file>